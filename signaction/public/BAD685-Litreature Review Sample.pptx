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4022F-DBE0-4893-8DA3-AE022014C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E4C8A-E6B8-456D-B7F8-EB810E55D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23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9c4f0da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0d9c4f0da6_0_9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0d9c4f0da6_0_9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d9c4f0da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0" name="Google Shape;120;g30d9c4f0da6_0_16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0d9c4f0da6_0_16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dbb29da4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dbb29da49_0_1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3dbb29da49_0_11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d9c4f0da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g30d9c4f0da6_0_2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30d9c4f0da6_0_24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56b7084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3" name="Google Shape;153;g3156b7084ef_0_8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3156b7084ef_0_8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d9c4f0da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g30d9c4f0da6_0_39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0d9c4f0da6_0_39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54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55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30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5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13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12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6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45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8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BDAD7-20D1-4448-AC1E-9C5033CC470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CCE884F-0041-4D18-BBF0-290B8466931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1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Title of the Project</a:t>
            </a:r>
          </a:p>
        </p:txBody>
      </p:sp>
      <p:sp>
        <p:nvSpPr>
          <p:cNvPr id="65" name="Google Shape;65;p34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52156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dirty="0">
                <a:sym typeface="Times New Roman"/>
              </a:rPr>
              <a:t>Submitted By</a:t>
            </a:r>
            <a:endParaRPr lang="en-US" dirty="0">
              <a:sym typeface="Century Gothic"/>
            </a:endParaRPr>
          </a:p>
          <a:p>
            <a:pPr lvl="0"/>
            <a:r>
              <a:rPr lang="en-US" dirty="0">
                <a:sym typeface="Times New Roman"/>
              </a:rPr>
              <a:t>USN – Name 1</a:t>
            </a:r>
            <a:endParaRPr lang="en-US" dirty="0">
              <a:sym typeface="Century Gothic"/>
            </a:endParaRPr>
          </a:p>
          <a:p>
            <a:pPr lvl="0"/>
            <a:r>
              <a:rPr lang="en-US" dirty="0">
                <a:sym typeface="Times New Roman"/>
              </a:rPr>
              <a:t>USN – Name 2</a:t>
            </a:r>
            <a:endParaRPr lang="en-US" dirty="0">
              <a:sym typeface="Century Gothic"/>
            </a:endParaRPr>
          </a:p>
          <a:p>
            <a:pPr lvl="0"/>
            <a:r>
              <a:rPr lang="en-US" dirty="0">
                <a:sym typeface="Times New Roman"/>
              </a:rPr>
              <a:t>Guidance of</a:t>
            </a:r>
            <a:endParaRPr lang="en-US" dirty="0">
              <a:sym typeface="Century Gothic"/>
            </a:endParaRPr>
          </a:p>
          <a:p>
            <a:pPr lvl="0"/>
            <a:r>
              <a:rPr lang="en-US" dirty="0">
                <a:sym typeface="Times New Roman"/>
              </a:rPr>
              <a:t>Name of Guide, Designation </a:t>
            </a:r>
            <a:endParaRPr lang="en-US" dirty="0">
              <a:sym typeface="Century Gothic"/>
            </a:endParaRPr>
          </a:p>
          <a:p>
            <a:pPr lvl="0"/>
            <a:endParaRPr lang="en-US" dirty="0">
              <a:sym typeface="Georgia"/>
            </a:endParaRPr>
          </a:p>
        </p:txBody>
      </p:sp>
      <p:sp>
        <p:nvSpPr>
          <p:cNvPr id="66" name="Google Shape;66;p34"/>
          <p:cNvSpPr txBox="1"/>
          <p:nvPr/>
        </p:nvSpPr>
        <p:spPr>
          <a:xfrm>
            <a:off x="3331554" y="318727"/>
            <a:ext cx="60945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bg2">
                    <a:lumMod val="2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BAD685 - Project Phase I</a:t>
            </a:r>
            <a:endParaRPr sz="1200" b="1" i="0" u="none" strike="noStrike" cap="none" dirty="0">
              <a:solidFill>
                <a:schemeClr val="bg2">
                  <a:lumMod val="2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3600" b="1" i="0" u="none" strike="noStrike" cap="none" dirty="0">
                <a:solidFill>
                  <a:schemeClr val="bg2">
                    <a:lumMod val="2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- 1 </a:t>
            </a:r>
            <a:endParaRPr sz="3600" b="1" i="0" u="none" strike="noStrike" cap="none" dirty="0">
              <a:solidFill>
                <a:schemeClr val="bg2">
                  <a:lumMod val="2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34"/>
          <p:cNvSpPr txBox="1"/>
          <p:nvPr/>
        </p:nvSpPr>
        <p:spPr>
          <a:xfrm>
            <a:off x="8710875" y="49690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5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3 to 5 lines about your project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idx="1"/>
          </p:nvPr>
        </p:nvSpPr>
        <p:spPr>
          <a:xfrm>
            <a:off x="1334809" y="213216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Introduction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Problem Statement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Objectives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Base Paper – Journal Paper Reference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Literature Survey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Gap Identification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81" name="Google Shape;81;p36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 general overview of your project stating the need for the project, the nature of the problem, how you are going to do it. ( 1 or 2 slides).  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idx="1"/>
          </p:nvPr>
        </p:nvSpPr>
        <p:spPr>
          <a:xfrm>
            <a:off x="1353663" y="2245281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What is the problem the existing system is facing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Outline the goal of the project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Identify the gap between the existing systems in place and the ideal system you are proposing and the need thereof.</a:t>
            </a:r>
            <a:endParaRPr dirty="0"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Outline the solution that you are proposing and its impact.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sp>
        <p:nvSpPr>
          <p:cNvPr id="95" name="Google Shape;95;p38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Give 3 to 4 specific objectives.</a:t>
            </a:r>
            <a:endParaRPr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They should address the problem statement</a:t>
            </a:r>
            <a:endParaRPr/>
          </a:p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Should be specific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Base Paper</a:t>
            </a:r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Reference Paper –Journal Paper/ Conference Paper will be accepted.</a:t>
            </a:r>
            <a:endParaRPr dirty="0"/>
          </a:p>
          <a:p>
            <a:pPr marL="13716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Example:</a:t>
            </a:r>
            <a:endParaRPr dirty="0"/>
          </a:p>
          <a:p>
            <a:pPr marL="13716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M. T. </a:t>
            </a:r>
            <a:r>
              <a:rPr lang="en-US" dirty="0" err="1"/>
              <a:t>Kimour</a:t>
            </a:r>
            <a:r>
              <a:rPr lang="en-US" dirty="0"/>
              <a:t> and D. </a:t>
            </a:r>
            <a:r>
              <a:rPr lang="en-US" dirty="0" err="1"/>
              <a:t>Meslati</a:t>
            </a:r>
            <a:r>
              <a:rPr lang="en-US" dirty="0"/>
              <a:t>, “Deriving objects from use cases in real-time embedded systems,” Information and Software Technology, vol. 47, no. 8, p. 533, June 2005.</a:t>
            </a:r>
            <a:endParaRPr dirty="0"/>
          </a:p>
          <a:p>
            <a:pPr marL="13716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13716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>
                <a:highlight>
                  <a:srgbClr val="FFFF00"/>
                </a:highlight>
              </a:rPr>
              <a:t>DOI should be present and it should be as a hyperlink, when you click it should move to the base paper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09" name="Google Shape;109;p40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d9c4f0da6_0_9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16" name="Google Shape;116;g30d9c4f0da6_0_9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List of Papers Reviewed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Minimum 10 Papers.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Explain - each paper with methodology in a separate slide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sp>
        <p:nvSpPr>
          <p:cNvPr id="117" name="Google Shape;117;g30d9c4f0da6_0_9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d9c4f0da6_0_16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24" name="Google Shape;124;g30d9c4f0da6_0_16"/>
          <p:cNvSpPr txBox="1">
            <a:spLocks noGrp="1"/>
          </p:cNvSpPr>
          <p:nvPr>
            <p:ph idx="1"/>
          </p:nvPr>
        </p:nvSpPr>
        <p:spPr>
          <a:xfrm>
            <a:off x="160256" y="2200930"/>
            <a:ext cx="11934334" cy="36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You can add few more columns like Dataset used </a:t>
            </a:r>
            <a:r>
              <a:rPr lang="en-US" dirty="0" err="1"/>
              <a:t>etc</a:t>
            </a:r>
            <a:r>
              <a:rPr lang="en-US" dirty="0"/>
              <a:t>… based on your project</a:t>
            </a:r>
            <a:endParaRPr dirty="0"/>
          </a:p>
        </p:txBody>
      </p:sp>
      <p:sp>
        <p:nvSpPr>
          <p:cNvPr id="125" name="Google Shape;125;g30d9c4f0da6_0_16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126" name="Google Shape;126;g30d9c4f0da6_0_16"/>
          <p:cNvGraphicFramePr/>
          <p:nvPr/>
        </p:nvGraphicFramePr>
        <p:xfrm>
          <a:off x="340925" y="2394750"/>
          <a:ext cx="11570100" cy="3028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4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Ref.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Author &amp; Year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Title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Methodology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Key Findings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Limitations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bb29da49_0_11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3dbb29da49_0_11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34" name="Google Shape;134;g33dbb29da49_0_11"/>
          <p:cNvGraphicFramePr/>
          <p:nvPr/>
        </p:nvGraphicFramePr>
        <p:xfrm>
          <a:off x="340925" y="2394750"/>
          <a:ext cx="11570100" cy="2502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4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Ref.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Author &amp; Year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Title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Methodology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Key Findings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/>
                        <a:t>Limitations</a:t>
                      </a:r>
                      <a:endParaRPr sz="1000" b="1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[1]</a:t>
                      </a:r>
                      <a:endParaRPr sz="1000"/>
                    </a:p>
                  </a:txBody>
                  <a:tcPr marL="28575" marR="28575" marT="19050" marB="1905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Shiwei Zhang et. al. (</a:t>
                      </a:r>
                      <a:r>
                        <a:rPr lang="en-US" sz="1000"/>
                        <a:t>2019)</a:t>
                      </a:r>
                      <a:endParaRPr sz="1000"/>
                    </a:p>
                  </a:txBody>
                  <a:tcPr marL="28575" marR="28575" marT="19050" marB="1905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Irony detection via sentiment-based transfer learning</a:t>
                      </a:r>
                      <a:endParaRPr sz="1000"/>
                    </a:p>
                  </a:txBody>
                  <a:tcPr marL="28575" marR="28575" marT="19050" marB="1905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 Transfer Learning approach is used.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 Bi-LSTM's are used to develop the model.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 Three novel approaches are used: - Sentiment-augmented attention Bi-LSTM (AABi-LSTM). - Sentiment-supervised attention Bi-LSTM (SABi-LSTM). - Sentiment transferred Bi-LSTM (STBi-LSTM).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 The Models take advantage of widely and readily available sentiment resources to improve the ability of attention-based model on detecting context incongruity.</a:t>
                      </a:r>
                      <a:endParaRPr sz="1000"/>
                    </a:p>
                  </a:txBody>
                  <a:tcPr marL="28575" marR="28575" marT="19050" marB="19050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 Irony detection on hashtag-annotated datasets is not as difficult as on manually labeled dataset.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 Models have better performance on hashtag-labeled datasets than that of manually annotated datasets.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 Attention-based models work better on Human annotated data than other models including other neural models and conventional machine learning methods.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 With the transferred deep features from the sentiment model, the STBi-LSTM performs very well, especially on detecting sentiment-based context incongruity.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 With incorporating transferred sentiment, models are able to detect both implicit and explicit context incongruity at most times.</a:t>
                      </a:r>
                      <a:endParaRPr sz="1000"/>
                    </a:p>
                  </a:txBody>
                  <a:tcPr marL="28575" marR="28575" marT="19050" marB="19050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 Attention-based models failed to detect the context incongruity since all of them put attentions mainly on common topic words. 2. Limited human labeled dataset.</a:t>
                      </a:r>
                      <a:endParaRPr sz="1000"/>
                    </a:p>
                  </a:txBody>
                  <a:tcPr marL="28575" marR="28575" marT="19050" marB="19050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d9c4f0da6_0_24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Gaps Identification</a:t>
            </a:r>
            <a:endParaRPr/>
          </a:p>
        </p:txBody>
      </p:sp>
      <p:sp>
        <p:nvSpPr>
          <p:cNvPr id="141" name="Google Shape;141;g30d9c4f0da6_0_24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This section identifies the limitations or gaps in the existing literature.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List in points </a:t>
            </a:r>
            <a:endParaRPr/>
          </a:p>
        </p:txBody>
      </p:sp>
      <p:sp>
        <p:nvSpPr>
          <p:cNvPr id="142" name="Google Shape;142;g30d9c4f0da6_0_24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56b7084ef_0_8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Software / Hardware Requirements</a:t>
            </a:r>
            <a:endParaRPr/>
          </a:p>
        </p:txBody>
      </p:sp>
      <p:sp>
        <p:nvSpPr>
          <p:cNvPr id="157" name="Google Shape;157;g3156b7084ef_0_8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158" name="Google Shape;158;g3156b7084ef_0_8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d9c4f0da6_0_39"/>
          <p:cNvSpPr txBox="1">
            <a:spLocks noGrp="1"/>
          </p:cNvSpPr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5" name="Google Shape;165;g30d9c4f0da6_0_39"/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Use IEEE Reference Format only and cite the reference inside the ppt wherever used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[1] Authors, “Title of the Paper”, Journal , Vol. Year, DOI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[2]</a:t>
            </a:r>
            <a:endParaRPr/>
          </a:p>
        </p:txBody>
      </p:sp>
      <p:sp>
        <p:nvSpPr>
          <p:cNvPr id="166" name="Google Shape;166;g30d9c4f0da6_0_39"/>
          <p:cNvSpPr txBox="1">
            <a:spLocks noGrp="1"/>
          </p:cNvSpPr>
          <p:nvPr>
            <p:ph type="sldNum" sz="quarter" idx="12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593</Words>
  <Application>Microsoft Office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Gill Sans MT</vt:lpstr>
      <vt:lpstr>Times New Roman</vt:lpstr>
      <vt:lpstr>Gallery</vt:lpstr>
      <vt:lpstr>Title of the Project</vt:lpstr>
      <vt:lpstr>Abstract</vt:lpstr>
      <vt:lpstr>Outline</vt:lpstr>
      <vt:lpstr>Introduction</vt:lpstr>
      <vt:lpstr>Problem Statement</vt:lpstr>
      <vt:lpstr>Objectives</vt:lpstr>
      <vt:lpstr>Base Paper</vt:lpstr>
      <vt:lpstr>Literature Survey</vt:lpstr>
      <vt:lpstr>Literature Survey - Comparison Chart</vt:lpstr>
      <vt:lpstr>PowerPoint Presentation</vt:lpstr>
      <vt:lpstr>Gaps Identification</vt:lpstr>
      <vt:lpstr>Software / Hardware Requirements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ANUSHA JOHNSON</dc:creator>
  <cp:lastModifiedBy>Anusha Johnson</cp:lastModifiedBy>
  <cp:revision>2</cp:revision>
  <dcterms:created xsi:type="dcterms:W3CDTF">2025-04-11T05:24:25Z</dcterms:created>
  <dcterms:modified xsi:type="dcterms:W3CDTF">2026-04-06T08:58:30Z</dcterms:modified>
</cp:coreProperties>
</file>